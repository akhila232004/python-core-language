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app0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package/2006/relationships/metadata/extended-properties" Target="docProps/app0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3" autoAdjust="0"/>
    <p:restoredTop sz="94694" autoAdjust="0"/>
  </p:normalViewPr>
  <p:slideViewPr>
    <p:cSldViewPr snapToGrid="0" snapToObjects="1">
      <p:cViewPr varScale="1">
        <p:scale>
          <a:sx n="99" d="100"/>
          <a:sy n="99" d="100"/>
        </p:scale>
        <p:origin x="922" y="72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-5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134E7D-49ED-482F-9BF8-EC2069035908}" type="datetimeFigureOut">
              <a:rPr lang="en-IN" smtClean="0"/>
              <a:t>12-08-2025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BDB87D-F372-432B-9EEE-5860B20B30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97783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BDB87D-F372-432B-9EEE-5860B20B306C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68573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4AB178-5635-8840-5E62-E54051D009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F84F13-EA08-0290-13D3-7252D1E9FF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13BFDB-15C2-7DD7-77D9-96ACC38CD7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7F29A1-F9C2-D038-CFDD-8DE0C08EB8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BDB87D-F372-432B-9EEE-5860B20B306C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43802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D6224C-CD36-74A7-A8AB-0D04FF82E6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560F90-93FA-ED38-8235-FA0BBD117C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701F12-C90A-6620-29DD-58655AA005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31DEDF-71BE-2593-79A1-E78DC33568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BDB87D-F372-432B-9EEE-5860B20B306C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71971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B35285-834B-BC63-6D0B-710865EE97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AE3A3E-370F-9C8F-08B7-CA13F2D18F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54ED04-2E75-7CC6-4968-69F6279D0D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4485C3-6F72-04C7-7687-CEF32C7B20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BDB87D-F372-432B-9EEE-5860B20B306C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469793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B761509-3B9A-49A6-A84B-C3D8681169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9143998" cy="51435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9" name="Freeform: Shape 8">
            <a:extLst>
              <a:ext uri="{FF2B5EF4-FFF2-40B4-BE49-F238E27FC236}">
                <a16:creationId xmlns:a16="http://schemas.microsoft.com/office/drawing/2014/main" id="{91DE43FD-EB47-414A-B0AB-169B0FFFA5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954691" cy="5143500"/>
          </a:xfrm>
          <a:custGeom>
            <a:avLst/>
            <a:gdLst>
              <a:gd name="connsiteX0" fmla="*/ 0 w 9272922"/>
              <a:gd name="connsiteY0" fmla="*/ 0 h 6858000"/>
              <a:gd name="connsiteX1" fmla="*/ 1733417 w 9272922"/>
              <a:gd name="connsiteY1" fmla="*/ 0 h 6858000"/>
              <a:gd name="connsiteX2" fmla="*/ 3307976 w 9272922"/>
              <a:gd name="connsiteY2" fmla="*/ 0 h 6858000"/>
              <a:gd name="connsiteX3" fmla="*/ 8126249 w 9272922"/>
              <a:gd name="connsiteY3" fmla="*/ 0 h 6858000"/>
              <a:gd name="connsiteX4" fmla="*/ 8138896 w 9272922"/>
              <a:gd name="connsiteY4" fmla="*/ 31774 h 6858000"/>
              <a:gd name="connsiteX5" fmla="*/ 9193904 w 9272922"/>
              <a:gd name="connsiteY5" fmla="*/ 2682457 h 6858000"/>
              <a:gd name="connsiteX6" fmla="*/ 9193904 w 9272922"/>
              <a:gd name="connsiteY6" fmla="*/ 3752208 h 6858000"/>
              <a:gd name="connsiteX7" fmla="*/ 8036400 w 9272922"/>
              <a:gd name="connsiteY7" fmla="*/ 6660411 h 6858000"/>
              <a:gd name="connsiteX8" fmla="*/ 7957938 w 9272922"/>
              <a:gd name="connsiteY8" fmla="*/ 6857542 h 6858000"/>
              <a:gd name="connsiteX9" fmla="*/ 3307976 w 9272922"/>
              <a:gd name="connsiteY9" fmla="*/ 6857542 h 6858000"/>
              <a:gd name="connsiteX10" fmla="*/ 3307976 w 9272922"/>
              <a:gd name="connsiteY10" fmla="*/ 6858000 h 6858000"/>
              <a:gd name="connsiteX11" fmla="*/ 0 w 9272922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272922" h="6858000">
                <a:moveTo>
                  <a:pt x="0" y="0"/>
                </a:moveTo>
                <a:lnTo>
                  <a:pt x="1733417" y="0"/>
                </a:lnTo>
                <a:lnTo>
                  <a:pt x="3307976" y="0"/>
                </a:lnTo>
                <a:lnTo>
                  <a:pt x="8126249" y="0"/>
                </a:lnTo>
                <a:lnTo>
                  <a:pt x="8138896" y="31774"/>
                </a:lnTo>
                <a:cubicBezTo>
                  <a:pt x="9193904" y="2682457"/>
                  <a:pt x="9193904" y="2682457"/>
                  <a:pt x="9193904" y="2682457"/>
                </a:cubicBezTo>
                <a:cubicBezTo>
                  <a:pt x="9299262" y="2988100"/>
                  <a:pt x="9299262" y="3446565"/>
                  <a:pt x="9193904" y="3752208"/>
                </a:cubicBezTo>
                <a:cubicBezTo>
                  <a:pt x="8709916" y="4968215"/>
                  <a:pt x="8331802" y="5918220"/>
                  <a:pt x="8036400" y="6660411"/>
                </a:cubicBezTo>
                <a:lnTo>
                  <a:pt x="7957938" y="6857542"/>
                </a:lnTo>
                <a:lnTo>
                  <a:pt x="3307976" y="6857542"/>
                </a:lnTo>
                <a:lnTo>
                  <a:pt x="3307976" y="6858000"/>
                </a:lnTo>
                <a:lnTo>
                  <a:pt x="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8495BCC-CE77-4CC2-952E-846F41119F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870420" y="806391"/>
            <a:ext cx="1171701" cy="879729"/>
            <a:chOff x="9160561" y="1075188"/>
            <a:chExt cx="1562267" cy="1172973"/>
          </a:xfrm>
        </p:grpSpPr>
        <p:sp>
          <p:nvSpPr>
            <p:cNvPr id="12" name="Freeform 5">
              <a:extLst>
                <a:ext uri="{FF2B5EF4-FFF2-40B4-BE49-F238E27FC236}">
                  <a16:creationId xmlns:a16="http://schemas.microsoft.com/office/drawing/2014/main" id="{1B42538B-E30F-4967-A6C1-8EBA775F4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160561" y="1423846"/>
              <a:ext cx="935037" cy="824315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9A6BD9AC-4DE7-4B20-8547-4E3B375C21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960661" y="1075188"/>
              <a:ext cx="762167" cy="671915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pic>
        <p:nvPicPr>
          <p:cNvPr id="14" name="Picture 13" descr="python_tinitiate_for_p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736" y="1619573"/>
            <a:ext cx="6540285" cy="1666364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720" y="54864"/>
            <a:ext cx="3383280" cy="448056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2761488" y="1856231"/>
            <a:ext cx="3977639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898648" y="1993392"/>
            <a:ext cx="34747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100">
                <a:solidFill>
                  <a:srgbClr val="232323"/>
                </a:solidFill>
                <a:latin typeface="Aptos"/>
              </a:rPr>
              <a:t>Python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98648" y="2468880"/>
            <a:ext cx="365760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>
                <a:solidFill>
                  <a:srgbClr val="3778AF"/>
                </a:solidFill>
                <a:latin typeface="Aptos"/>
              </a:rPr>
              <a:t>Python Exceptions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lIns="18288" rIns="18288" tIns="27432" bIns="27432">
            <a:normAutofit/>
          </a:bodyPr>
          <a:lstStyle/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Exceptions are events that disrupt the normal flow of program execution.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Python raises an exception when it detects an error or other exceptional condition.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Exception handling allows a program to respond to these conditions instead of stopping unexpectedly.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Example: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print(10 / 0)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Output: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ZeroDivisionError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5100AE7-B4CE-4703-F358-F4BAF2D30DDF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/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141C7C-3443-7A24-02CA-7F1A88C4ED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801A118D-1234-1B31-9E92-93786F2EBAD2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1200">
                <a:solidFill>
                  <a:srgbClr val="FFFFFF"/>
                </a:solidFill>
              </a:rPr>
              <a:t>Copyright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Header Heading"/>
          <p:cNvSpPr txBox="1"/>
          <p:nvPr/>
        </p:nvSpPr>
        <p:spPr>
          <a:xfrm>
            <a:off x="91440" y="91440"/>
            <a:ext cx="5623560" cy="3931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ptos Display"/>
              </a:rPr>
              <a:t>Python Exceptions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lIns="18288" rIns="18288" tIns="27432" bIns="27432">
            <a:noAutofit/>
          </a:bodyPr>
          <a:lstStyle/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The try block contains code that may raise an exception.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The except block handles a matching exception when one occurs.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Example: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try: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    result = 10 / 0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except ZeroDivisionError: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    print("Cannot divide by zero")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Output: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Cannot divide by zero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BF5AD11-5B9F-A785-1D82-481088F131F8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/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5FE3969-0689-9F53-67D3-D6FF33D11A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9D98EA23-8882-5003-0F78-44BABF9433FE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1200">
                <a:solidFill>
                  <a:srgbClr val="FFFFFF"/>
                </a:solidFill>
              </a:rPr>
              <a:t>Copyright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Header Heading"/>
          <p:cNvSpPr txBox="1"/>
          <p:nvPr/>
        </p:nvSpPr>
        <p:spPr>
          <a:xfrm>
            <a:off x="91440" y="91440"/>
            <a:ext cx="5623560" cy="3931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ptos Display"/>
              </a:rPr>
              <a:t>try and except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4A2D33-04D9-A050-2BFF-8B6A7E0C25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FBF966-9670-278E-FD28-D2A5005DA4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lIns="18288" rIns="18288" tIns="27432" bIns="27432">
            <a:noAutofit/>
          </a:bodyPr>
          <a:lstStyle/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A try statement can have multiple except clauses.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The first matching except clause handles the raised exception.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Example: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try: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    number = int("abc")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except ValueError: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    print("Invalid number")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except TypeError: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    print("Invalid type")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Output: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Invalid number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3369F39-152B-BE89-CE6D-D44ABC4F0BC5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/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AF5BD11-E366-297A-BD41-2BE193408B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6D922F1F-68BD-1368-889A-9294A19DADBE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1200">
                <a:solidFill>
                  <a:srgbClr val="FFFFFF"/>
                </a:solidFill>
              </a:rPr>
              <a:t>Copyright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Header Heading"/>
          <p:cNvSpPr txBox="1"/>
          <p:nvPr/>
        </p:nvSpPr>
        <p:spPr>
          <a:xfrm>
            <a:off x="91440" y="91440"/>
            <a:ext cx="5623560" cy="3931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ptos Display"/>
              </a:rPr>
              <a:t>Handling Multiple Exceptions</a:t>
            </a:r>
          </a:p>
        </p:txBody>
      </p:sp>
    </p:spTree>
    <p:extLst>
      <p:ext uri="{BB962C8B-B14F-4D97-AF65-F5344CB8AC3E}">
        <p14:creationId xmlns:p14="http://schemas.microsoft.com/office/powerpoint/2010/main" val="5082945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820A00-D5B4-1EC4-8961-6732A9C5A3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26D4FD-1BC3-15BD-2CE8-F7EE4EF4E7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lIns="18288" rIns="18288" tIns="27432" bIns="27432">
            <a:noAutofit/>
          </a:bodyPr>
          <a:lstStyle/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The else clause runs when no exception occurs in the try block.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It is useful for code that should execute only after the protected operation succeeds.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Example: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try: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    number = int("25")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except ValueError: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    print("Invalid number")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else: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    print("Conversion successful")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Output: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Conversion successful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4D7EBBE-1ABA-05F3-17A8-F1B91B98D88C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/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37B73D7-AB5F-373B-EB74-6EA5E76059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5044EC7F-FDAC-B2F3-C3CD-42E8DBE05DD7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1200">
                <a:solidFill>
                  <a:srgbClr val="FFFFFF"/>
                </a:solidFill>
              </a:rPr>
              <a:t>Copyright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Header Heading"/>
          <p:cNvSpPr txBox="1"/>
          <p:nvPr/>
        </p:nvSpPr>
        <p:spPr>
          <a:xfrm>
            <a:off x="91440" y="91440"/>
            <a:ext cx="5623560" cy="3931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ptos Display"/>
              </a:rPr>
              <a:t>The else Clause</a:t>
            </a:r>
          </a:p>
        </p:txBody>
      </p:sp>
    </p:spTree>
    <p:extLst>
      <p:ext uri="{BB962C8B-B14F-4D97-AF65-F5344CB8AC3E}">
        <p14:creationId xmlns:p14="http://schemas.microsoft.com/office/powerpoint/2010/main" val="6435643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7611BD-77F8-E55A-5E63-76ED064D78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308E9F-8AE1-6043-376B-183BE657FF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lIns="18288" rIns="18288" tIns="27432" bIns="27432">
            <a:noAutofit/>
          </a:bodyPr>
          <a:lstStyle/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The finally clause executes whether an exception occurs or not.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It is commonly used for cleanup actions such as closing resources.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Example: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try: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    file = open("data.txt")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except FileNotFoundError: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    print("File not found")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finally: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    print("Execution completed")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Output: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File not found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Execution completed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AB09392-70BD-C41E-9119-5CB1550D0800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/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1D35F03-1C73-0957-6854-622D4EA127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9B519B1A-B04E-08F2-912D-4D85DE4CCCB0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1200">
                <a:solidFill>
                  <a:srgbClr val="FFFFFF"/>
                </a:solidFill>
              </a:rPr>
              <a:t>Copyright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Header Heading"/>
          <p:cNvSpPr txBox="1"/>
          <p:nvPr/>
        </p:nvSpPr>
        <p:spPr>
          <a:xfrm>
            <a:off x="91440" y="91440"/>
            <a:ext cx="5623560" cy="3931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ptos Display"/>
              </a:rPr>
              <a:t>The finally Clause</a:t>
            </a:r>
          </a:p>
        </p:txBody>
      </p:sp>
    </p:spTree>
    <p:extLst>
      <p:ext uri="{BB962C8B-B14F-4D97-AF65-F5344CB8AC3E}">
        <p14:creationId xmlns:p14="http://schemas.microsoft.com/office/powerpoint/2010/main" val="38226596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AB3E26-D998-5DE4-B11B-325A906DC9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4ED347-4EF7-A77F-FB81-FCDC902C41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lIns="18288" rIns="18288" tIns="27432" bIns="27432">
            <a:noAutofit/>
          </a:bodyPr>
          <a:lstStyle/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The raise statement allows a program to explicitly generate an exception.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It can be used when a program detects an invalid condition.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Example: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age = -1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if age &lt; 0: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    raise ValueError("Age cannot be negative")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Output: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ValueError: Age cannot be negative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6AA3743-94AC-0B3B-5AAF-F0C539809928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/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B46F3E4-0D65-C7C7-3640-5718851D80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5A6627A5-5232-56B0-51A0-258627AF6C10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1200">
                <a:solidFill>
                  <a:srgbClr val="FFFFFF"/>
                </a:solidFill>
              </a:rPr>
              <a:t>Copyright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Header Heading"/>
          <p:cNvSpPr txBox="1"/>
          <p:nvPr/>
        </p:nvSpPr>
        <p:spPr>
          <a:xfrm>
            <a:off x="91440" y="91440"/>
            <a:ext cx="5623560" cy="3931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ptos Display"/>
              </a:rPr>
              <a:t>Raising Exceptions</a:t>
            </a:r>
          </a:p>
        </p:txBody>
      </p:sp>
    </p:spTree>
    <p:extLst>
      <p:ext uri="{BB962C8B-B14F-4D97-AF65-F5344CB8AC3E}">
        <p14:creationId xmlns:p14="http://schemas.microsoft.com/office/powerpoint/2010/main" val="40852192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A7C24B-E62C-5C11-CC13-CCDE03FBE8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D33A89-CD63-902F-B1BC-ECC04D74E8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lIns="18288" rIns="18288" tIns="27432" bIns="27432">
            <a:noAutofit/>
          </a:bodyPr>
          <a:lstStyle/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Custom exceptions can be created by defining a class derived from Exception.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They make application-specific errors easier to identify and handle.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Example: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class InvalidAgeError(Exception):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    pass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age = -1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if age &lt; 0: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    raise InvalidAgeError("Invalid age")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Output: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InvalidAgeError: Invalid age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0B76DD8-7C62-9625-A36B-B5874AE7CFCF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/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2BA8D8E-1111-4AAF-5F72-ADDBBC7E89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9533AB15-4F61-D0C5-47A3-22CB939B290F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1200">
                <a:solidFill>
                  <a:srgbClr val="FFFFFF"/>
                </a:solidFill>
              </a:rPr>
              <a:t>Copyright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Header Heading"/>
          <p:cNvSpPr txBox="1"/>
          <p:nvPr/>
        </p:nvSpPr>
        <p:spPr>
          <a:xfrm>
            <a:off x="91440" y="91440"/>
            <a:ext cx="5623560" cy="3931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ptos Display"/>
              </a:rPr>
              <a:t>Custom Exceptions</a:t>
            </a:r>
          </a:p>
        </p:txBody>
      </p:sp>
    </p:spTree>
    <p:extLst>
      <p:ext uri="{BB962C8B-B14F-4D97-AF65-F5344CB8AC3E}">
        <p14:creationId xmlns:p14="http://schemas.microsoft.com/office/powerpoint/2010/main" val="11667691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5">
      <a:dk1>
        <a:srgbClr val="1F497D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649</Words>
  <Application>Microsoft Office PowerPoint</Application>
  <PresentationFormat>On-screen Show (16:9)</PresentationFormat>
  <Paragraphs>76</Paragraphs>
  <Slides>8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Arial</vt:lpstr>
      <vt:lpstr>Calibri</vt:lpstr>
      <vt:lpstr>Courier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cp:lastModifiedBy>Rohit K</cp:lastModifiedBy>
  <cp:revision>3</cp:revision>
  <dcterms:created xsi:type="dcterms:W3CDTF">2025-08-01T09:09:29Z</dcterms:created>
  <dcterms:modified xsi:type="dcterms:W3CDTF">2025-08-12T08:59:33Z</dcterms:modified>
</cp:coreProperties>
</file>